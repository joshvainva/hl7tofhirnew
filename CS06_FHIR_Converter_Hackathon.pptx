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080422"/>
              </a:gs>
              <a:gs pos="35000">
                <a:srgbClr val="1A0A45"/>
              </a:gs>
              <a:gs pos="65000">
                <a:srgbClr val="2D1B69"/>
              </a:gs>
              <a:gs pos="100000">
                <a:srgbClr val="0F0A35"/>
              </a:gs>
            </a:gsLst>
            <a:lin ang="13500000" scaled="0"/>
          </a:gra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58000" y="1371600"/>
            <a:ext cx="3657600" cy="3657600"/>
          </a:xfrm>
          <a:prstGeom prst="ellipse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3657600"/>
            <a:ext cx="2743200" cy="2743200"/>
          </a:xfrm>
          <a:prstGeom prst="ellips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innova</a:t>
            </a:r>
            <a:r>
              <a:rPr sz="800">
                <a:solidFill>
                  <a:srgbClr val="FFFFFF"/>
                </a:solidFill>
                <a:latin typeface="Calibri"/>
              </a:rPr>
              <a:t>®</a:t>
            </a:r>
          </a:p>
          <a:p>
            <a:r>
              <a:rPr sz="800" b="1">
                <a:solidFill>
                  <a:srgbClr val="CCD6F1"/>
                </a:solidFill>
                <a:latin typeface="Calibri"/>
              </a:rPr>
              <a:t>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AI HACKATHON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3017520"/>
            <a:ext cx="7955279" cy="960120"/>
          </a:xfrm>
          <a:prstGeom prst="rect">
            <a:avLst/>
          </a:prstGeom>
          <a:solidFill>
            <a:srgbClr val="1E1B4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30632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2026 AI Hackathon  |  Case Study No. CS06</a:t>
            </a:r>
          </a:p>
          <a:p>
            <a:pPr algn="ctr"/>
            <a:r>
              <a:rPr sz="1800" b="1">
                <a:solidFill>
                  <a:srgbClr val="F5C518"/>
                </a:solidFill>
                <a:latin typeface="Calibri"/>
              </a:rPr>
              <a:t>"FHIR Converter – Agentic Code Generation"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4160520"/>
            <a:ext cx="6675120" cy="384048"/>
          </a:xfrm>
          <a:prstGeom prst="rect">
            <a:avLst/>
          </a:prstGeom>
          <a:solidFill>
            <a:srgbClr val="0F0E2E"/>
          </a:solidFill>
          <a:ln w="10160">
            <a:solidFill>
              <a:srgbClr val="3B4A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4178808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CCD6F1"/>
                </a:solidFill>
                <a:latin typeface="Calibri"/>
              </a:rPr>
              <a:t>Presenters – Sanjivi Syamsundar, Joshva Koilraj, Pavan Kandula, Gayathri Paladugu, Rishika Sambavi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92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AEC0"/>
                </a:solidFill>
                <a:latin typeface="Calibri"/>
              </a:rPr>
              <a:t>1455 LINCOLN PARKWAY EAST, 8TH FLOOR, ATLANTA, GA 30346  |  WWW.INNOVASOLUTIONS.COM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A0AEC0"/>
                </a:solidFill>
                <a:latin typeface="Calibri"/>
              </a:rPr>
              <a:t>2026 AI HACKATHON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4320" y="6446520"/>
            <a:ext cx="11612880" cy="0"/>
          </a:xfrm>
          <a:prstGeom prst="line">
            <a:avLst/>
          </a:prstGeom>
          <a:ln w="6350">
            <a:solidFill>
              <a:srgbClr val="3B4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080422"/>
              </a:gs>
              <a:gs pos="50000">
                <a:srgbClr val="0D1432"/>
              </a:gs>
              <a:gs pos="100000">
                <a:srgbClr val="0A062A"/>
              </a:gs>
            </a:gsLst>
            <a:lin ang="13500000" scaled="0"/>
          </a:gra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164592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innova</a:t>
            </a:r>
            <a:r>
              <a:rPr sz="800">
                <a:solidFill>
                  <a:srgbClr val="FFFFFF"/>
                </a:solidFill>
                <a:latin typeface="Calibri"/>
              </a:rPr>
              <a:t>®</a:t>
            </a:r>
          </a:p>
          <a:p>
            <a:r>
              <a:rPr sz="800" b="1">
                <a:solidFill>
                  <a:srgbClr val="CCD6F1"/>
                </a:solidFill>
                <a:latin typeface="Calibri"/>
              </a:rPr>
              <a:t>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Case Study No. CS06  |  Application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C518"/>
                </a:solidFill>
                <a:latin typeface="Calibri"/>
              </a:rPr>
              <a:t>HL7 &amp; EHR → FHIR Converter  —  Healthcare Interoperability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What is it?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F1"/>
                </a:solidFill>
                <a:latin typeface="Calibri"/>
              </a:rPr>
              <a:t>A full-stack web application that converts healthcare messages between HL7 v2.x, EHR pipe-delimited records, and FHIR R4 — the modern healthcare interoperability standard.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377440"/>
            <a:ext cx="3657600" cy="3611880"/>
          </a:xfrm>
          <a:prstGeom prst="rect">
            <a:avLst/>
          </a:prstGeom>
          <a:solidFill>
            <a:srgbClr val="0F142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245059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🔄  Conversion Modes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852928"/>
            <a:ext cx="3429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CCD6F1"/>
                </a:solidFill>
                <a:latin typeface="Calibri"/>
              </a:rPr>
              <a:t>▸  HL7 v2.x → FHIR R4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F1"/>
                </a:solidFill>
                <a:latin typeface="Calibri"/>
              </a:rPr>
              <a:t>▸  FHIR R4 → HL7 v2.x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F1"/>
                </a:solidFill>
                <a:latin typeface="Calibri"/>
              </a:rPr>
              <a:t>▸  Raw EHR → FHIR R4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F1"/>
                </a:solidFill>
                <a:latin typeface="Calibri"/>
              </a:rPr>
              <a:t>▸  Supports ADT, ORM, ORU,
SIU, MDM, DFT, VXU…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2377440"/>
            <a:ext cx="3657600" cy="3611880"/>
          </a:xfrm>
          <a:prstGeom prst="rect">
            <a:avLst/>
          </a:prstGeom>
          <a:solidFill>
            <a:srgbClr val="0F142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5968" y="245059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Calibri"/>
              </a:rPr>
              <a:t>🤖  AI-Powered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852928"/>
            <a:ext cx="3429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CCD6F1"/>
                </a:solidFill>
                <a:latin typeface="Calibri"/>
              </a:rPr>
              <a:t>▸  Claude Sonnet 4.6 (Anthropic)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F1"/>
                </a:solidFill>
                <a:latin typeface="Calibri"/>
              </a:rPr>
              <a:t>▸  Groq (Llama 3.3 70B)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F1"/>
                </a:solidFill>
                <a:latin typeface="Calibri"/>
              </a:rPr>
              <a:t>▸  Multi-step LLM extraction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F1"/>
                </a:solidFill>
                <a:latin typeface="Calibri"/>
              </a:rPr>
              <a:t>▸  Handles any HL7 variant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2377440"/>
            <a:ext cx="3657600" cy="3611880"/>
          </a:xfrm>
          <a:prstGeom prst="rect">
            <a:avLst/>
          </a:prstGeom>
          <a:solidFill>
            <a:srgbClr val="0F14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245059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📄  Output &amp; Reports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852928"/>
            <a:ext cx="3429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CCD6F1"/>
                </a:solidFill>
                <a:latin typeface="Calibri"/>
              </a:rPr>
              <a:t>▸  FHIR JSON &amp; XML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F1"/>
                </a:solidFill>
                <a:latin typeface="Calibri"/>
              </a:rPr>
              <a:t>▸  PDF Conversion Report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F1"/>
                </a:solidFill>
                <a:latin typeface="Calibri"/>
              </a:rPr>
              <a:t>▸  CSV / Excel download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F1"/>
                </a:solidFill>
                <a:latin typeface="Calibri"/>
              </a:rPr>
              <a:t>▸  Field-level mapping audit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F1"/>
                </a:solidFill>
                <a:latin typeface="Calibri"/>
              </a:rPr>
              <a:t>▸  PHI masking / unmasking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492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AEC0"/>
                </a:solidFill>
                <a:latin typeface="Calibri"/>
              </a:rPr>
              <a:t>1455 LINCOLN PARKWAY EAST, 8TH FLOOR, ATLANTA, GA 30346  |  WWW.INNOVASOLUTIONS.COM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A0AEC0"/>
                </a:solidFill>
                <a:latin typeface="Calibri"/>
              </a:rPr>
              <a:t>2026 AI HACKATHON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74320" y="6446520"/>
            <a:ext cx="11612880" cy="0"/>
          </a:xfrm>
          <a:prstGeom prst="line">
            <a:avLst/>
          </a:prstGeom>
          <a:ln w="6350">
            <a:solidFill>
              <a:srgbClr val="3B4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080422"/>
              </a:gs>
              <a:gs pos="50000">
                <a:srgbClr val="0D1432"/>
              </a:gs>
              <a:gs pos="100000">
                <a:srgbClr val="0A062A"/>
              </a:gs>
            </a:gsLst>
            <a:lin ang="13500000" scaled="0"/>
          </a:gra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164592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innova</a:t>
            </a:r>
            <a:r>
              <a:rPr sz="800">
                <a:solidFill>
                  <a:srgbClr val="FFFFFF"/>
                </a:solidFill>
                <a:latin typeface="Calibri"/>
              </a:rPr>
              <a:t>®</a:t>
            </a:r>
          </a:p>
          <a:p>
            <a:r>
              <a:rPr sz="800" b="1">
                <a:solidFill>
                  <a:srgbClr val="CCD6F1"/>
                </a:solidFill>
                <a:latin typeface="Calibri"/>
              </a:rPr>
              <a:t>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Case Study No. CS06  |  Conversion Details &amp; Report Downloads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144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Supported HL7 Segments → FHIR Resources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1005840" cy="246888"/>
          </a:xfrm>
          <a:prstGeom prst="rect">
            <a:avLst/>
          </a:prstGeom>
          <a:solidFill>
            <a:srgbClr val="1E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1344168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B6D4"/>
                </a:solidFill>
                <a:latin typeface="Calibri"/>
              </a:rPr>
              <a:t>MSH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1325880"/>
            <a:ext cx="3840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F1"/>
                </a:solidFill>
                <a:latin typeface="Calibri"/>
              </a:rPr>
              <a:t>MessageHeader / Organization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609344"/>
            <a:ext cx="1005840" cy="246888"/>
          </a:xfrm>
          <a:prstGeom prst="rect">
            <a:avLst/>
          </a:prstGeom>
          <a:solidFill>
            <a:srgbClr val="1E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1627632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B6D4"/>
                </a:solidFill>
                <a:latin typeface="Calibri"/>
              </a:rPr>
              <a:t>PID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1609344"/>
            <a:ext cx="3840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F1"/>
                </a:solidFill>
                <a:latin typeface="Calibri"/>
              </a:rPr>
              <a:t>Patient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892808"/>
            <a:ext cx="1005840" cy="246888"/>
          </a:xfrm>
          <a:prstGeom prst="rect">
            <a:avLst/>
          </a:prstGeom>
          <a:solidFill>
            <a:srgbClr val="1E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" y="1911096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B6D4"/>
                </a:solidFill>
                <a:latin typeface="Calibri"/>
              </a:rPr>
              <a:t>PV1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1892808"/>
            <a:ext cx="3840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F1"/>
                </a:solidFill>
                <a:latin typeface="Calibri"/>
              </a:rPr>
              <a:t>Encounter  (class, location, attending)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176272"/>
            <a:ext cx="1005840" cy="246888"/>
          </a:xfrm>
          <a:prstGeom prst="rect">
            <a:avLst/>
          </a:prstGeom>
          <a:solidFill>
            <a:srgbClr val="1E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" y="2194560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B6D4"/>
                </a:solidFill>
                <a:latin typeface="Calibri"/>
              </a:rPr>
              <a:t>ORC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2176272"/>
            <a:ext cx="3840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F1"/>
                </a:solidFill>
                <a:latin typeface="Calibri"/>
              </a:rPr>
              <a:t>ServiceRequest  (placer/filler/group IDs)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459736"/>
            <a:ext cx="1005840" cy="246888"/>
          </a:xfrm>
          <a:prstGeom prst="rect">
            <a:avLst/>
          </a:prstGeom>
          <a:solidFill>
            <a:srgbClr val="1E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" y="2478024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B6D4"/>
                </a:solidFill>
                <a:latin typeface="Calibri"/>
              </a:rPr>
              <a:t>OBR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2459736"/>
            <a:ext cx="3840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F1"/>
                </a:solidFill>
                <a:latin typeface="Calibri"/>
              </a:rPr>
              <a:t>ServiceRequest + DiagnosticReport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743200"/>
            <a:ext cx="1005840" cy="246888"/>
          </a:xfrm>
          <a:prstGeom prst="rect">
            <a:avLst/>
          </a:prstGeom>
          <a:solidFill>
            <a:srgbClr val="1E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" y="2761488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B6D4"/>
                </a:solidFill>
                <a:latin typeface="Calibri"/>
              </a:rPr>
              <a:t>OBX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2743200"/>
            <a:ext cx="3840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F1"/>
                </a:solidFill>
                <a:latin typeface="Calibri"/>
              </a:rPr>
              <a:t>Observation  (NM/CWE/ST value types)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026664"/>
            <a:ext cx="1005840" cy="246888"/>
          </a:xfrm>
          <a:prstGeom prst="rect">
            <a:avLst/>
          </a:prstGeom>
          <a:solidFill>
            <a:srgbClr val="1E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" y="3044952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B6D4"/>
                </a:solidFill>
                <a:latin typeface="Calibri"/>
              </a:rPr>
              <a:t>NK1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9888" y="3026664"/>
            <a:ext cx="3840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F1"/>
                </a:solidFill>
                <a:latin typeface="Calibri"/>
              </a:rPr>
              <a:t>RelatedPerson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310128"/>
            <a:ext cx="1005840" cy="246888"/>
          </a:xfrm>
          <a:prstGeom prst="rect">
            <a:avLst/>
          </a:prstGeom>
          <a:solidFill>
            <a:srgbClr val="1E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8328" y="3328416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B6D4"/>
                </a:solidFill>
                <a:latin typeface="Calibri"/>
              </a:rPr>
              <a:t>AL1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9888" y="3310128"/>
            <a:ext cx="3840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F1"/>
                </a:solidFill>
                <a:latin typeface="Calibri"/>
              </a:rPr>
              <a:t>AllergyIntolerance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1005840" cy="246888"/>
          </a:xfrm>
          <a:prstGeom prst="rect">
            <a:avLst/>
          </a:prstGeom>
          <a:solidFill>
            <a:srgbClr val="1E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328" y="3611880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B6D4"/>
                </a:solidFill>
                <a:latin typeface="Calibri"/>
              </a:rPr>
              <a:t>DG1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9888" y="3593592"/>
            <a:ext cx="3840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F1"/>
                </a:solidFill>
                <a:latin typeface="Calibri"/>
              </a:rPr>
              <a:t>Condition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877056"/>
            <a:ext cx="1005840" cy="246888"/>
          </a:xfrm>
          <a:prstGeom prst="rect">
            <a:avLst/>
          </a:prstGeom>
          <a:solidFill>
            <a:srgbClr val="1E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8328" y="3895344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B6D4"/>
                </a:solidFill>
                <a:latin typeface="Calibri"/>
              </a:rPr>
              <a:t>IN1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89888" y="3877056"/>
            <a:ext cx="3840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F1"/>
                </a:solidFill>
                <a:latin typeface="Calibri"/>
              </a:rPr>
              <a:t>Coverage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160520"/>
            <a:ext cx="1005840" cy="246888"/>
          </a:xfrm>
          <a:prstGeom prst="rect">
            <a:avLst/>
          </a:prstGeom>
          <a:solidFill>
            <a:srgbClr val="1E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8328" y="4178808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B6D4"/>
                </a:solidFill>
                <a:latin typeface="Calibri"/>
              </a:rPr>
              <a:t>RXA/RXR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89888" y="4160520"/>
            <a:ext cx="3840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F1"/>
                </a:solidFill>
                <a:latin typeface="Calibri"/>
              </a:rPr>
              <a:t>Immunization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443984"/>
            <a:ext cx="1005840" cy="246888"/>
          </a:xfrm>
          <a:prstGeom prst="rect">
            <a:avLst/>
          </a:prstGeom>
          <a:solidFill>
            <a:srgbClr val="1E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8328" y="4462272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B6D4"/>
                </a:solidFill>
                <a:latin typeface="Calibri"/>
              </a:rPr>
              <a:t>GT1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89888" y="4443984"/>
            <a:ext cx="3840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F1"/>
                </a:solidFill>
                <a:latin typeface="Calibri"/>
              </a:rPr>
              <a:t>RelatedPerson (guarantor)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4727448"/>
            <a:ext cx="1005840" cy="246888"/>
          </a:xfrm>
          <a:prstGeom prst="rect">
            <a:avLst/>
          </a:prstGeom>
          <a:solidFill>
            <a:srgbClr val="1E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8328" y="4745736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B6D4"/>
                </a:solidFill>
                <a:latin typeface="Calibri"/>
              </a:rPr>
              <a:t>NTE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89888" y="4727448"/>
            <a:ext cx="3840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F1"/>
                </a:solidFill>
                <a:latin typeface="Calibri"/>
              </a:rPr>
              <a:t>Annotation note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91440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  <a:latin typeface="Calibri"/>
              </a:rPr>
              <a:t>Report &amp; Download Options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26480" y="1325880"/>
            <a:ext cx="5715000" cy="749808"/>
          </a:xfrm>
          <a:prstGeom prst="rect">
            <a:avLst/>
          </a:prstGeom>
          <a:solidFill>
            <a:srgbClr val="0F142E"/>
          </a:solidFill>
          <a:ln w="8890">
            <a:solidFill>
              <a:srgbClr val="2D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36208" y="135331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📄  FHIR JSON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36208" y="1618488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F1"/>
                </a:solidFill>
                <a:latin typeface="Calibri"/>
              </a:rPr>
              <a:t>Full FHIR R4 Bundle — copy or download as .json
Single patient:  Patient_SMITH_JOHN.json
Multi-patient:  FHIR_Bundle_&lt;msgType&gt;.json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26480" y="2148840"/>
            <a:ext cx="5715000" cy="749808"/>
          </a:xfrm>
          <a:prstGeom prst="rect">
            <a:avLst/>
          </a:prstGeom>
          <a:solidFill>
            <a:srgbClr val="0F142E"/>
          </a:solidFill>
          <a:ln w="8890">
            <a:solidFill>
              <a:srgbClr val="2D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36208" y="217627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📑  FHIR XML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36208" y="2441448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F1"/>
                </a:solidFill>
                <a:latin typeface="Calibri"/>
              </a:rPr>
              <a:t>FHIR R4 Bundle in XML format (.xml)
Fully schema-compliant HL7 FHIR R4 XML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26480" y="2971800"/>
            <a:ext cx="5715000" cy="749808"/>
          </a:xfrm>
          <a:prstGeom prst="rect">
            <a:avLst/>
          </a:prstGeom>
          <a:solidFill>
            <a:srgbClr val="0F142E"/>
          </a:solidFill>
          <a:ln w="8890">
            <a:solidFill>
              <a:srgbClr val="2D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36208" y="29992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📊  PDF Report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36208" y="3264408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F1"/>
                </a:solidFill>
                <a:latin typeface="Calibri"/>
              </a:rPr>
              <a:t>Branded conversion report with:
  • Resource Summary table
  • Per-resource field detail
  • Field Mapping audit trail
  Filename:  FHIR_Report_&lt;msgType&gt;_&lt;date&gt;.pdf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26480" y="3794760"/>
            <a:ext cx="5715000" cy="749808"/>
          </a:xfrm>
          <a:prstGeom prst="rect">
            <a:avLst/>
          </a:prstGeom>
          <a:solidFill>
            <a:srgbClr val="0F142E"/>
          </a:solidFill>
          <a:ln w="8890">
            <a:solidFill>
              <a:srgbClr val="2D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36208" y="382219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📈  CSV / Excel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36208" y="4087368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F1"/>
                </a:solidFill>
                <a:latin typeface="Calibri"/>
              </a:rPr>
              <a:t>Flat tabular view of all FHIR resources
Filename:  FHIR_Export_&lt;msgType&gt;.csv / .xlsx
One row per resource, columns per field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26480" y="4617720"/>
            <a:ext cx="5715000" cy="749808"/>
          </a:xfrm>
          <a:prstGeom prst="rect">
            <a:avLst/>
          </a:prstGeom>
          <a:solidFill>
            <a:srgbClr val="0F142E"/>
          </a:solidFill>
          <a:ln w="8890">
            <a:solidFill>
              <a:srgbClr val="2D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36208" y="464515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🔒  PHI Masking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36208" y="4910328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F1"/>
                </a:solidFill>
                <a:latin typeface="Calibri"/>
              </a:rPr>
              <a:t>Mask PID, SSN, NK1 before AI send
🔓 Unmask restores original values
Downloads respect mask/unmask state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4320" y="6492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AEC0"/>
                </a:solidFill>
                <a:latin typeface="Calibri"/>
              </a:rPr>
              <a:t>1455 LINCOLN PARKWAY EAST, 8TH FLOOR, ATLANTA, GA 30346  |  WWW.INNOVASOLUTIONS.COM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A0AEC0"/>
                </a:solidFill>
                <a:latin typeface="Calibri"/>
              </a:rPr>
              <a:t>2026 AI HACKATHON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274320" y="6446520"/>
            <a:ext cx="11612880" cy="0"/>
          </a:xfrm>
          <a:prstGeom prst="line">
            <a:avLst/>
          </a:prstGeom>
          <a:ln w="6350">
            <a:solidFill>
              <a:srgbClr val="3B4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080422"/>
              </a:gs>
              <a:gs pos="50000">
                <a:srgbClr val="0D1432"/>
              </a:gs>
              <a:gs pos="100000">
                <a:srgbClr val="0A062A"/>
              </a:gs>
            </a:gsLst>
            <a:lin ang="13500000" scaled="0"/>
          </a:gra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164592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innova</a:t>
            </a:r>
            <a:r>
              <a:rPr sz="800">
                <a:solidFill>
                  <a:srgbClr val="FFFFFF"/>
                </a:solidFill>
                <a:latin typeface="Calibri"/>
              </a:rPr>
              <a:t>®</a:t>
            </a:r>
          </a:p>
          <a:p>
            <a:r>
              <a:rPr sz="800" b="1">
                <a:solidFill>
                  <a:srgbClr val="CCD6F1"/>
                </a:solidFill>
                <a:latin typeface="Calibri"/>
              </a:rPr>
              <a:t>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Case Study No. CS06  |  AI-Powered Conversion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  <a:latin typeface="Calibri"/>
              </a:rPr>
              <a:t>Dual AI Provider Architecture — Claude Sonnet 4.6 (Anthropic) &amp; Groq (Llama 3.3 70B)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9844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F1"/>
                </a:solidFill>
                <a:latin typeface="Calibri"/>
              </a:rPr>
              <a:t>Toggle AI Mode ON to unlock LLM-powered conversion for complex, real-world HL7 and EHR messages that rule-based parsers cannot handle.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1907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B82F6"/>
                </a:solidFill>
                <a:latin typeface="Calibri"/>
              </a:rPr>
              <a:t>4-Step Extraction Pipeline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084831"/>
            <a:ext cx="2743200" cy="1371600"/>
          </a:xfrm>
          <a:prstGeom prst="rect">
            <a:avLst/>
          </a:prstGeom>
          <a:solidFill>
            <a:srgbClr val="0F142E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2084831"/>
            <a:ext cx="640080" cy="32918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2093976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A062A"/>
                </a:solidFill>
                <a:latin typeface="Calibr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43230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B82F6"/>
                </a:solidFill>
                <a:latin typeface="Calibri"/>
              </a:rPr>
              <a:t>Demographics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" y="2743200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CD6F1"/>
                </a:solidFill>
                <a:latin typeface="Calibri"/>
              </a:rPr>
              <a:t>PID→Patient, PV1→Encounter,
NK1→RelatedPerson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63240" y="2770632"/>
            <a:ext cx="320040" cy="0"/>
          </a:xfrm>
          <a:prstGeom prst="line">
            <a:avLst/>
          </a:prstGeom>
          <a:ln w="19050">
            <a:solidFill>
              <a:srgbClr val="4B5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246120" y="2084831"/>
            <a:ext cx="2743200" cy="1371600"/>
          </a:xfrm>
          <a:prstGeom prst="rect">
            <a:avLst/>
          </a:prstGeom>
          <a:solidFill>
            <a:srgbClr val="0F142E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46120" y="2084831"/>
            <a:ext cx="640080" cy="3291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73552" y="2093976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A062A"/>
                </a:solidFill>
                <a:latin typeface="Calibri"/>
              </a:rP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243230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3AED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9272" y="2743200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CD6F1"/>
                </a:solidFill>
                <a:latin typeface="Calibri"/>
              </a:rPr>
              <a:t>ORC→ServiceRequest, OBR→DiagnosticReport,
OBX→Observation, RXA→Immunization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89320" y="2770632"/>
            <a:ext cx="320040" cy="0"/>
          </a:xfrm>
          <a:prstGeom prst="line">
            <a:avLst/>
          </a:prstGeom>
          <a:ln w="19050">
            <a:solidFill>
              <a:srgbClr val="4B5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172200" y="2084831"/>
            <a:ext cx="2743200" cy="1371600"/>
          </a:xfrm>
          <a:prstGeom prst="rect">
            <a:avLst/>
          </a:prstGeom>
          <a:solidFill>
            <a:srgbClr val="0F142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2084831"/>
            <a:ext cx="640080" cy="3291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9632" y="2093976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A062A"/>
                </a:solidFill>
                <a:latin typeface="Calibri"/>
              </a:rPr>
              <a:t>Step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43230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  <a:latin typeface="Calibri"/>
              </a:rPr>
              <a:t>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5352" y="2743200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CD6F1"/>
                </a:solidFill>
                <a:latin typeface="Calibri"/>
              </a:rPr>
              <a:t>AL1→AllergyIntolerance, DG1→Condition,
IN1→Coverage, Z-segments→Parameters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915400" y="2770632"/>
            <a:ext cx="320040" cy="0"/>
          </a:xfrm>
          <a:prstGeom prst="line">
            <a:avLst/>
          </a:prstGeom>
          <a:ln w="19050">
            <a:solidFill>
              <a:srgbClr val="4B5A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098280" y="2084831"/>
            <a:ext cx="2743200" cy="1371600"/>
          </a:xfrm>
          <a:prstGeom prst="rect">
            <a:avLst/>
          </a:prstGeom>
          <a:solidFill>
            <a:srgbClr val="0F142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98280" y="2084831"/>
            <a:ext cx="640080" cy="3291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25712" y="2093976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A062A"/>
                </a:solidFill>
                <a:latin typeface="Calibri"/>
              </a:rPr>
              <a:t>Step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243230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  <a:latin typeface="Calibri"/>
              </a:rPr>
              <a:t>Field Maps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71432" y="2743200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CD6F1"/>
                </a:solidFill>
                <a:latin typeface="Calibri"/>
              </a:rPr>
              <a:t>Full field-level HL7→FHIR mapping
audit trail returned to UI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358444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B82F6"/>
                </a:solidFill>
                <a:latin typeface="Calibri"/>
              </a:rPr>
              <a:t>Why AI for Healthcare Conversion?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3913632"/>
            <a:ext cx="5577840" cy="594360"/>
          </a:xfrm>
          <a:prstGeom prst="rect">
            <a:avLst/>
          </a:prstGeom>
          <a:solidFill>
            <a:srgbClr val="0F142E"/>
          </a:solidFill>
          <a:ln w="7620">
            <a:solidFill>
              <a:srgbClr val="2D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3941064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🧠  Handles any HL7 variant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" y="416966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F1"/>
                </a:solidFill>
                <a:latin typeface="Calibri"/>
              </a:rPr>
              <a:t>Rule-based parsers fail on non-standard or custom Z-segments. LLMs understand clinical context and infer correct mappings.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581144"/>
            <a:ext cx="5577840" cy="594360"/>
          </a:xfrm>
          <a:prstGeom prst="rect">
            <a:avLst/>
          </a:prstGeom>
          <a:solidFill>
            <a:srgbClr val="0F142E"/>
          </a:solidFill>
          <a:ln w="7620">
            <a:solidFill>
              <a:srgbClr val="2D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" y="4608576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⚡  Multi-provider flexibility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" y="483717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F1"/>
                </a:solidFill>
                <a:latin typeface="Calibri"/>
              </a:rPr>
              <a:t>Groq (free tier, fast) for development; Claude Sonnet 4.6 for production accuracy. Radio-button switch in UI — no code change.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5248656"/>
            <a:ext cx="5577840" cy="594360"/>
          </a:xfrm>
          <a:prstGeom prst="rect">
            <a:avLst/>
          </a:prstGeom>
          <a:solidFill>
            <a:srgbClr val="0F142E"/>
          </a:solidFill>
          <a:ln w="7620">
            <a:solidFill>
              <a:srgbClr val="2D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5276088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🔒  PHI-safe by design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" y="550468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F1"/>
                </a:solidFill>
                <a:latin typeface="Calibri"/>
              </a:rPr>
              <a:t>Mask PHI checkbox replaces patient name, DOB, MRN, SSN, NK1 data before the message leaves your browser. Unmask locally.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5916168"/>
            <a:ext cx="5577840" cy="594360"/>
          </a:xfrm>
          <a:prstGeom prst="rect">
            <a:avLst/>
          </a:prstGeom>
          <a:solidFill>
            <a:srgbClr val="0F142E"/>
          </a:solidFill>
          <a:ln w="7620">
            <a:solidFill>
              <a:srgbClr val="2D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" y="594360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🛠️  JSON repair built-in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" y="6172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F1"/>
                </a:solidFill>
                <a:latin typeface="Calibri"/>
              </a:rPr>
              <a:t>json-repair library recovers malformed LLM output. _unwrap_to_list() handles Bundle vs array responses from any LLM.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358444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5C518"/>
                </a:solidFill>
                <a:latin typeface="Calibri"/>
              </a:rPr>
              <a:t>Tech Stack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3913632"/>
            <a:ext cx="1097280" cy="329184"/>
          </a:xfrm>
          <a:prstGeom prst="rect">
            <a:avLst/>
          </a:prstGeom>
          <a:solidFill>
            <a:srgbClr val="1E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27648" y="3950208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B82F6"/>
                </a:solidFill>
                <a:latin typeface="Calibri"/>
              </a:rPr>
              <a:t>Backend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79792" y="3950208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F1"/>
                </a:solidFill>
                <a:latin typeface="Calibri"/>
              </a:rPr>
              <a:t>Python · FastAPI · Uvicorn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4443984"/>
            <a:ext cx="1097280" cy="329184"/>
          </a:xfrm>
          <a:prstGeom prst="rect">
            <a:avLst/>
          </a:prstGeom>
          <a:solidFill>
            <a:srgbClr val="1E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27648" y="4480560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C3AED"/>
                </a:solidFill>
                <a:latin typeface="Calibri"/>
              </a:rPr>
              <a:t>AI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79792" y="4480560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F1"/>
                </a:solidFill>
                <a:latin typeface="Calibri"/>
              </a:rPr>
              <a:t>Anthropic SDK (Claude) · Groq SDK · json-repair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4974336"/>
            <a:ext cx="1097280" cy="329184"/>
          </a:xfrm>
          <a:prstGeom prst="rect">
            <a:avLst/>
          </a:prstGeom>
          <a:solidFill>
            <a:srgbClr val="1E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27648" y="5010912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  <a:latin typeface="Calibri"/>
              </a:rPr>
              <a:t>Frontend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79792" y="5010912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F1"/>
                </a:solidFill>
                <a:latin typeface="Calibri"/>
              </a:rPr>
              <a:t>Vanilla JS · CSS3 · HTML5 · jsPDF · SheetJS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5504688"/>
            <a:ext cx="1097280" cy="329184"/>
          </a:xfrm>
          <a:prstGeom prst="rect">
            <a:avLst/>
          </a:prstGeom>
          <a:solidFill>
            <a:srgbClr val="1E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27648" y="554126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B6D4"/>
                </a:solidFill>
                <a:latin typeface="Calibri"/>
              </a:rPr>
              <a:t>HL7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79792" y="5541264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F1"/>
                </a:solidFill>
                <a:latin typeface="Calibri"/>
              </a:rPr>
              <a:t>python-hl7 · Custom ORM/ORU/ADT/SIU converters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09360" y="6035040"/>
            <a:ext cx="1097280" cy="329184"/>
          </a:xfrm>
          <a:prstGeom prst="rect">
            <a:avLst/>
          </a:prstGeom>
          <a:solidFill>
            <a:srgbClr val="1E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27648" y="6071616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  <a:latin typeface="Calibri"/>
              </a:rPr>
              <a:t>Deploy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79792" y="6071616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F1"/>
                </a:solidFill>
                <a:latin typeface="Calibri"/>
              </a:rPr>
              <a:t>localhost:8000  (Windows/Linux/Mac)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74320" y="6492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AEC0"/>
                </a:solidFill>
                <a:latin typeface="Calibri"/>
              </a:rPr>
              <a:t>1455 LINCOLN PARKWAY EAST, 8TH FLOOR, ATLANTA, GA 30346  |  WWW.INNOVASOLUTIONS.COM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A0AEC0"/>
                </a:solidFill>
                <a:latin typeface="Calibri"/>
              </a:rPr>
              <a:t>2026 AI HACKATHON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274320" y="6446520"/>
            <a:ext cx="11612880" cy="0"/>
          </a:xfrm>
          <a:prstGeom prst="line">
            <a:avLst/>
          </a:prstGeom>
          <a:ln w="6350">
            <a:solidFill>
              <a:srgbClr val="3B4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080422"/>
              </a:gs>
              <a:gs pos="50000">
                <a:srgbClr val="0D1432"/>
              </a:gs>
              <a:gs pos="100000">
                <a:srgbClr val="0A062A"/>
              </a:gs>
            </a:gsLst>
            <a:lin ang="13500000" scaled="0"/>
          </a:gra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164592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innova</a:t>
            </a:r>
            <a:r>
              <a:rPr sz="800">
                <a:solidFill>
                  <a:srgbClr val="FFFFFF"/>
                </a:solidFill>
                <a:latin typeface="Calibri"/>
              </a:rPr>
              <a:t>®</a:t>
            </a:r>
          </a:p>
          <a:p>
            <a:r>
              <a:rPr sz="800" b="1">
                <a:solidFill>
                  <a:srgbClr val="CCD6F1"/>
                </a:solidFill>
                <a:latin typeface="Calibri"/>
              </a:rPr>
              <a:t>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Case Study No. CS06  |  Live Demo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960120"/>
            <a:ext cx="9994392" cy="4846320"/>
          </a:xfrm>
          <a:prstGeom prst="rect">
            <a:avLst/>
          </a:prstGeom>
          <a:solidFill>
            <a:srgbClr val="0F142E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394960" y="2560320"/>
            <a:ext cx="1371600" cy="13716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0" y="2724912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069080"/>
            <a:ext cx="9994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C518"/>
                </a:solidFill>
                <a:latin typeface="Calibri"/>
              </a:rPr>
              <a:t>▶  INSERT VIDEO HERE  —  Demo_FHIR_Converter_CS06.mp4  (~2 min)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526280"/>
            <a:ext cx="94457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CD6F1"/>
                </a:solidFill>
                <a:latin typeface="Calibri"/>
              </a:rPr>
              <a:t>Recording steps:  Open localhost:8000  →  Paste ORM HL7 sample  →  Convert (manual)  →  Show FHIR JSON / PDF Report  →  Enable AI Mode (Claude)  →  Convert EHR sample  →  Download Excel  →  Demonstrate PHI Mask / Unmask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5413248"/>
            <a:ext cx="9994392" cy="411480"/>
          </a:xfrm>
          <a:prstGeom prst="rect">
            <a:avLst/>
          </a:prstGeom>
          <a:solidFill>
            <a:srgbClr val="1A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5440680"/>
            <a:ext cx="9692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6B6D4"/>
                </a:solidFill>
                <a:latin typeface="Calibri"/>
              </a:rPr>
              <a:t>💡  To embed:  Insert → Video → This Device → select Demo_FHIR_Converter_CS06.mp4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AEC0"/>
                </a:solidFill>
                <a:latin typeface="Calibri"/>
              </a:rPr>
              <a:t>1455 LINCOLN PARKWAY EAST, 8TH FLOOR, ATLANTA, GA 30346  |  WWW.INNOVASOLUTIONS.COM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92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A0AEC0"/>
                </a:solidFill>
                <a:latin typeface="Calibri"/>
              </a:rPr>
              <a:t>2026 AI HACKATHON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74320" y="6446520"/>
            <a:ext cx="11612880" cy="0"/>
          </a:xfrm>
          <a:prstGeom prst="line">
            <a:avLst/>
          </a:prstGeom>
          <a:ln w="6350">
            <a:solidFill>
              <a:srgbClr val="3B4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